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6" r:id="rId4"/>
  </p:sldMasterIdLst>
  <p:notesMasterIdLst>
    <p:notesMasterId r:id="rId21"/>
  </p:notesMasterIdLst>
  <p:handoutMasterIdLst>
    <p:handoutMasterId r:id="rId22"/>
  </p:handoutMasterIdLst>
  <p:sldIdLst>
    <p:sldId id="271" r:id="rId5"/>
    <p:sldId id="285" r:id="rId6"/>
    <p:sldId id="273" r:id="rId7"/>
    <p:sldId id="259" r:id="rId8"/>
    <p:sldId id="260" r:id="rId9"/>
    <p:sldId id="261" r:id="rId10"/>
    <p:sldId id="275" r:id="rId11"/>
    <p:sldId id="262" r:id="rId12"/>
    <p:sldId id="277" r:id="rId13"/>
    <p:sldId id="278" r:id="rId14"/>
    <p:sldId id="279" r:id="rId15"/>
    <p:sldId id="280" r:id="rId16"/>
    <p:sldId id="282" r:id="rId17"/>
    <p:sldId id="281" r:id="rId18"/>
    <p:sldId id="283" r:id="rId19"/>
    <p:sldId id="284" r:id="rId20"/>
  </p:sldIdLst>
  <p:sldSz cx="9144000" cy="6858000" type="screen4x3"/>
  <p:notesSz cx="7315200" cy="9601200"/>
  <p:embeddedFontLst>
    <p:embeddedFont>
      <p:font typeface="Verdana" panose="020B0604030504040204" pitchFamily="34" charset="0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52">
          <p15:clr>
            <a:srgbClr val="A4A3A4"/>
          </p15:clr>
        </p15:guide>
        <p15:guide id="2" pos="117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1E4"/>
    <a:srgbClr val="E6E8F2"/>
    <a:srgbClr val="D0D4E8"/>
    <a:srgbClr val="AB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10" autoAdjust="0"/>
  </p:normalViewPr>
  <p:slideViewPr>
    <p:cSldViewPr>
      <p:cViewPr varScale="1">
        <p:scale>
          <a:sx n="39" d="100"/>
          <a:sy n="39" d="100"/>
        </p:scale>
        <p:origin x="4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70" d="100"/>
          <a:sy n="70" d="100"/>
        </p:scale>
        <p:origin x="-2088" y="-276"/>
      </p:cViewPr>
      <p:guideLst>
        <p:guide orient="horz" pos="2752"/>
        <p:guide pos="1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4" tIns="48328" rIns="96654" bIns="48328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4" tIns="48328" rIns="96654" bIns="48328" rtlCol="0"/>
          <a:lstStyle>
            <a:lvl1pPr algn="r">
              <a:defRPr sz="1300"/>
            </a:lvl1pPr>
          </a:lstStyle>
          <a:p>
            <a:fld id="{8F45B8CD-F359-4D94-8AD1-923710D8C70B}" type="datetimeFigureOut">
              <a:rPr lang="en-US" smtClean="0"/>
              <a:pPr/>
              <a:t>5/22/2018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4" tIns="48328" rIns="96654" bIns="48328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4" tIns="48328" rIns="96654" bIns="48328" rtlCol="0" anchor="b"/>
          <a:lstStyle>
            <a:lvl1pPr algn="r">
              <a:defRPr sz="1300"/>
            </a:lvl1pPr>
          </a:lstStyle>
          <a:p>
            <a:fld id="{F135FA1E-2594-4534-BDDE-F96DBDDC820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5845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46263" y="55207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4" tIns="48328" rIns="96654" bIns="4832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57401" y="4368552"/>
            <a:ext cx="4824536" cy="4138420"/>
          </a:xfrm>
          <a:prstGeom prst="rect">
            <a:avLst/>
          </a:prstGeom>
        </p:spPr>
        <p:txBody>
          <a:bodyPr vert="horz" lIns="96654" tIns="48328" rIns="96654" bIns="48328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228578" y="74978"/>
            <a:ext cx="6934201" cy="325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718" tIns="48859" rIns="97718" bIns="48859"/>
          <a:lstStyle/>
          <a:p>
            <a:pPr marL="0" marR="0" indent="0" algn="l" defTabSz="966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FUNCTIONAL TESTING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3807246" y="8496299"/>
            <a:ext cx="2946698" cy="264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718" tIns="48859" rIns="97718" bIns="48859"/>
          <a:lstStyle/>
          <a:p>
            <a:pPr marL="0" marR="0" indent="0" algn="l" defTabSz="966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	                                Page 0-</a:t>
            </a:r>
            <a:fld id="{BD9FB300-F9DC-4669-88F4-967ABA23CC04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l" defTabSz="9665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425352" y="375016"/>
            <a:ext cx="0" cy="8401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6654" tIns="48328" rIns="96654" bIns="4832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651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17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5513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73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65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95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88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42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98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1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44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69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06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06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846263" y="449263"/>
            <a:ext cx="4800600" cy="3600450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40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50"/>
          </a:p>
        </p:txBody>
      </p:sp>
      <p:pic>
        <p:nvPicPr>
          <p:cNvPr id="5" name="Graphic 9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0"/>
            <a:ext cx="52990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6100763"/>
            <a:ext cx="171450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305991" y="3068961"/>
            <a:ext cx="3725949" cy="720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>
            <a:noAutofit/>
          </a:bodyPr>
          <a:lstStyle>
            <a:lvl1pPr>
              <a:lnSpc>
                <a:spcPts val="2250"/>
              </a:lnSpc>
              <a:defRPr lang="en-US" sz="1950" b="0" dirty="0">
                <a:solidFill>
                  <a:srgbClr val="0070AD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05991" y="3932560"/>
            <a:ext cx="3725949" cy="1223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>
            <a:lvl1pPr marL="0" marR="0" indent="0" algn="l" defTabSz="6858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dirty="0">
                <a:solidFill>
                  <a:srgbClr val="0070A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20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Open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80" b="21349"/>
          <a:stretch>
            <a:fillRect/>
          </a:stretch>
        </p:blipFill>
        <p:spPr bwMode="auto">
          <a:xfrm>
            <a:off x="3676650" y="838200"/>
            <a:ext cx="546735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08" r="22708"/>
          <a:stretch>
            <a:fillRect/>
          </a:stretch>
        </p:blipFill>
        <p:spPr bwMode="auto">
          <a:xfrm>
            <a:off x="0" y="-1588"/>
            <a:ext cx="49911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13">
            <a:extLst/>
          </p:cNvPr>
          <p:cNvSpPr>
            <a:spLocks noGrp="1"/>
          </p:cNvSpPr>
          <p:nvPr>
            <p:ph type="body" sz="quarter" idx="11"/>
          </p:nvPr>
        </p:nvSpPr>
        <p:spPr>
          <a:xfrm>
            <a:off x="5274078" y="2946391"/>
            <a:ext cx="3563932" cy="1418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ts val="2250"/>
              </a:lnSpc>
              <a:buNone/>
              <a:defRPr sz="1950">
                <a:solidFill>
                  <a:schemeClr val="bg1"/>
                </a:solidFill>
              </a:defRPr>
            </a:lvl1pPr>
            <a:lvl2pPr marL="342900" indent="0">
              <a:buNone/>
              <a:defRPr sz="45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086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305991" y="3068961"/>
            <a:ext cx="3725949" cy="720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>
            <a:noAutofit/>
          </a:bodyPr>
          <a:lstStyle>
            <a:lvl1pPr>
              <a:lnSpc>
                <a:spcPts val="2250"/>
              </a:lnSpc>
              <a:defRPr lang="en-US" sz="1950" b="0" dirty="0">
                <a:solidFill>
                  <a:srgbClr val="0070AD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05991" y="3932560"/>
            <a:ext cx="3725949" cy="1223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>
            <a:lvl1pPr marL="0" marR="0" indent="0" algn="l" defTabSz="6858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dirty="0">
                <a:solidFill>
                  <a:srgbClr val="0070A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721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36525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9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516" y="1494766"/>
            <a:ext cx="8845484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4759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60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3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050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38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www.strategic-resume.com/wp-content/uploads/2015/08/SummaryIc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450" y="1495425"/>
            <a:ext cx="16383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http://www.strategic-resume.com/wp-content/uploads/2015/08/SummaryIc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450" y="1495425"/>
            <a:ext cx="16383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98516" y="1494766"/>
            <a:ext cx="6887389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300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ssessmen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0" y="1828800"/>
            <a:ext cx="18288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0" y="1828800"/>
            <a:ext cx="18288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489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43"/>
          <p:cNvSpPr>
            <a:spLocks noChangeArrowheads="1"/>
          </p:cNvSpPr>
          <p:nvPr/>
        </p:nvSpPr>
        <p:spPr bwMode="auto">
          <a:xfrm>
            <a:off x="8702675" y="6556375"/>
            <a:ext cx="3175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1DD8C9FD-1065-4DAD-B4D0-704AB2448C84}" type="slidenum">
              <a:rPr lang="en-US" altLang="en-US" sz="600">
                <a:solidFill>
                  <a:srgbClr val="7F7F7F"/>
                </a:solidFill>
              </a:rPr>
              <a:pPr algn="r" eaLnBrk="1" hangingPunct="1"/>
              <a:t>‹#›</a:t>
            </a:fld>
            <a:endParaRPr lang="en-US" altLang="en-US" sz="600">
              <a:solidFill>
                <a:srgbClr val="7F7F7F"/>
              </a:solidFill>
            </a:endParaRPr>
          </a:p>
        </p:txBody>
      </p:sp>
      <p:cxnSp>
        <p:nvCxnSpPr>
          <p:cNvPr id="3" name="Conector reto 49">
            <a:extLst/>
          </p:cNvPr>
          <p:cNvCxnSpPr>
            <a:cxnSpLocks/>
          </p:cNvCxnSpPr>
          <p:nvPr/>
        </p:nvCxnSpPr>
        <p:spPr>
          <a:xfrm flipV="1">
            <a:off x="2462213" y="6588125"/>
            <a:ext cx="0" cy="155575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7">
            <a:hlinkClick r:id="rId2"/>
          </p:cNvPr>
          <p:cNvSpPr>
            <a:spLocks noChangeArrowheads="1"/>
          </p:cNvSpPr>
          <p:nvPr/>
        </p:nvSpPr>
        <p:spPr bwMode="auto">
          <a:xfrm>
            <a:off x="306388" y="6556375"/>
            <a:ext cx="21209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6858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600">
                <a:solidFill>
                  <a:srgbClr val="00458D"/>
                </a:solidFill>
                <a:latin typeface="Verdana" panose="020B0604030504040204" pitchFamily="34" charset="0"/>
              </a:rPr>
              <a:t>Presentation Title | Author | Date</a:t>
            </a:r>
          </a:p>
        </p:txBody>
      </p:sp>
      <p:sp>
        <p:nvSpPr>
          <p:cNvPr id="5" name="Retângulo 43"/>
          <p:cNvSpPr>
            <a:spLocks noChangeArrowheads="1"/>
          </p:cNvSpPr>
          <p:nvPr/>
        </p:nvSpPr>
        <p:spPr bwMode="auto">
          <a:xfrm>
            <a:off x="2559050" y="6556375"/>
            <a:ext cx="16668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>
                <a:solidFill>
                  <a:srgbClr val="767676"/>
                </a:solidFill>
              </a:rPr>
              <a:t>© 2017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528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3795C17-C32A-4DDA-BD53-5FEF24AF2C99}" type="datetime1">
              <a:rPr lang="en-US" smtClean="0"/>
              <a:t>5/22/2018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Capgemini Public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3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ud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6925244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760" y="1828800"/>
            <a:ext cx="1828800" cy="242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06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7009788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828800"/>
            <a:ext cx="2286000" cy="15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356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Lesson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98516" y="1494766"/>
            <a:ext cx="6793764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1828800"/>
            <a:ext cx="2003192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41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ssess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6887389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375" y="1828800"/>
            <a:ext cx="1828800" cy="1819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375" y="1828800"/>
            <a:ext cx="1828800" cy="1819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375" y="1828800"/>
            <a:ext cx="1828800" cy="1819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8588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50"/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309563" y="419100"/>
            <a:ext cx="831215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pt-PT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09563" y="1412875"/>
            <a:ext cx="852805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pic>
        <p:nvPicPr>
          <p:cNvPr id="1029" name="Graphic 4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36" t="-4713" b="16530"/>
          <a:stretch>
            <a:fillRect/>
          </a:stretch>
        </p:blipFill>
        <p:spPr bwMode="auto">
          <a:xfrm>
            <a:off x="8661400" y="188913"/>
            <a:ext cx="3175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192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4" r:id="rId7"/>
    <p:sldLayoutId id="2147483715" r:id="rId8"/>
    <p:sldLayoutId id="2147483719" r:id="rId9"/>
    <p:sldLayoutId id="2147483720" r:id="rId10"/>
    <p:sldLayoutId id="2147483721" r:id="rId11"/>
    <p:sldLayoutId id="2147483722" r:id="rId12"/>
    <p:sldLayoutId id="2147483723" r:id="rId13"/>
  </p:sldLayoutIdLst>
  <p:hf sldNum="0"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pt-PT" sz="20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titleStyle>
    <p:bodyStyle>
      <a:lvl1pPr algn="l" defTabSz="685800" rtl="0" eaLnBrk="1" fontAlgn="base" hangingPunct="1">
        <a:lnSpc>
          <a:spcPts val="1650"/>
        </a:lnSpc>
        <a:spcBef>
          <a:spcPct val="0"/>
        </a:spcBef>
        <a:spcAft>
          <a:spcPts val="450"/>
        </a:spcAft>
        <a:buFont typeface="Arial" panose="020B0604020202020204" pitchFamily="34" charset="0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1450" algn="l" defTabSz="685800" rtl="0" eaLnBrk="1" fontAlgn="base" hangingPunct="1">
        <a:lnSpc>
          <a:spcPts val="1350"/>
        </a:lnSpc>
        <a:spcBef>
          <a:spcPct val="0"/>
        </a:spcBef>
        <a:spcAft>
          <a:spcPts val="45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171450" algn="l" defTabSz="685800" rtl="0" eaLnBrk="1" fontAlgn="base" hangingPunct="1">
        <a:lnSpc>
          <a:spcPts val="1200"/>
        </a:lnSpc>
        <a:spcBef>
          <a:spcPct val="0"/>
        </a:spcBef>
        <a:spcAft>
          <a:spcPts val="45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17525" indent="-174625" algn="l" defTabSz="685800" rtl="0" eaLnBrk="1" fontAlgn="base" hangingPunct="1">
        <a:lnSpc>
          <a:spcPts val="1050"/>
        </a:lnSpc>
        <a:spcBef>
          <a:spcPct val="0"/>
        </a:spcBef>
        <a:spcAft>
          <a:spcPts val="45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06388" y="3068638"/>
            <a:ext cx="5345732" cy="7207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000" dirty="0"/>
              <a:t>Core Java 8 and Development Tools </a:t>
            </a:r>
            <a:endParaRPr dirty="0"/>
          </a:p>
        </p:txBody>
      </p:sp>
      <p:sp>
        <p:nvSpPr>
          <p:cNvPr id="14339" name="Subtitle 4"/>
          <p:cNvSpPr>
            <a:spLocks noGrp="1"/>
          </p:cNvSpPr>
          <p:nvPr>
            <p:ph type="subTitle" idx="1"/>
          </p:nvPr>
        </p:nvSpPr>
        <p:spPr>
          <a:xfrm>
            <a:off x="306388" y="3875088"/>
            <a:ext cx="4832350" cy="1223962"/>
          </a:xfrm>
          <a:ln w="9525"/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2"/>
                </a:solidFill>
              </a:rPr>
              <a:t>Lesson 00: Java SE 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55543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History</a:t>
            </a:r>
          </a:p>
        </p:txBody>
      </p:sp>
      <p:graphicFrame>
        <p:nvGraphicFramePr>
          <p:cNvPr id="6" name="Group 53">
            <a:extLst>
              <a:ext uri="{FF2B5EF4-FFF2-40B4-BE49-F238E27FC236}">
                <a16:creationId xmlns:a16="http://schemas.microsoft.com/office/drawing/2014/main" xmlns="" id="{6B341580-BAC4-49A8-B73F-E761BF9C87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3360201"/>
              </p:ext>
            </p:extLst>
          </p:nvPr>
        </p:nvGraphicFramePr>
        <p:xfrm>
          <a:off x="412017" y="1033169"/>
          <a:ext cx="8107242" cy="5204143"/>
        </p:xfrm>
        <a:graphic>
          <a:graphicData uri="http://schemas.openxmlformats.org/drawingml/2006/table">
            <a:tbl>
              <a:tblPr/>
              <a:tblGrid>
                <a:gridCol w="12076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0698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60011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410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Date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Course Version No.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Software Version No.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Developer / SME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Reviewer(s)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Approver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Change Record Remarks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410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12-Oct–2009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1.5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Anitha, Habib &amp; Mahima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Revamped from J2SE 1.4 to J2SE 1.5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34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27-Oct-2009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1.5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CLS Team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Review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79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 Jul 2011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1.5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Shrilata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T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Changes in material made based on integration process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618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Mar 2015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1.8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Vinod Satpute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Changes made to include new features of Java version 6,7 and 8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60579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25-May-2016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1.8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Tanmaya Acharya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Uma Ponniamman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Nischal Topno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Manisha Surve </a:t>
                      </a:r>
                      <a:r>
                        <a:rPr lang="en-US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Krishnanand</a:t>
                      </a:r>
                      <a:r>
                        <a:rPr lang="en-US" sz="8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Diwekar</a:t>
                      </a:r>
                      <a:endParaRPr 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Yeldo Varghese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Shefali Kunder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Sagar Kulkarni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Avdhut Shedge 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Ashish Minocha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Balasubrahmanyam Poluri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Nitin </a:t>
                      </a:r>
                      <a:r>
                        <a:rPr lang="en-US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Ghate</a:t>
                      </a: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Ashish </a:t>
                      </a:r>
                      <a:r>
                        <a:rPr lang="en-US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Minocha</a:t>
                      </a: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Mahima Sharma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Changes made as per the ELT integrated TOC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906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13-Jan-2017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6.1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1.8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Tanmaya Acharya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Vaishali Srivastava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Created a subset for V&amp;V Automation Testing integrated syllabus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06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May 2018</a:t>
                      </a:r>
                      <a:endParaRPr kumimoji="0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6.2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1.8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Shubhangi Bharti</a:t>
                      </a:r>
                      <a:endParaRPr kumimoji="0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Courseware format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947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5022" lvl="1">
              <a:lnSpc>
                <a:spcPct val="150000"/>
              </a:lnSpc>
            </a:pPr>
            <a:r>
              <a:rPr lang="en-US" dirty="0"/>
              <a:t>Course Goals</a:t>
            </a:r>
          </a:p>
          <a:p>
            <a:pPr lvl="2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dirty="0"/>
              <a:t>Implementing OOPs features in Java</a:t>
            </a:r>
          </a:p>
          <a:p>
            <a:pPr lvl="2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dirty="0"/>
              <a:t>Developing Java Desktop Applications</a:t>
            </a:r>
          </a:p>
          <a:p>
            <a:pPr lvl="2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dirty="0"/>
              <a:t>Use of Core JDK 1.8 API </a:t>
            </a:r>
          </a:p>
          <a:p>
            <a:pPr lvl="2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dirty="0"/>
              <a:t>Testing using Junit 4</a:t>
            </a:r>
          </a:p>
          <a:p>
            <a:pPr marL="175022" lvl="1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dirty="0"/>
              <a:t>Course Non Goals </a:t>
            </a:r>
          </a:p>
          <a:p>
            <a:pPr lvl="2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dirty="0"/>
              <a:t>Developing GUI applications</a:t>
            </a:r>
          </a:p>
          <a:p>
            <a:pPr lvl="1" indent="0">
              <a:lnSpc>
                <a:spcPct val="100000"/>
              </a:lnSpc>
              <a:buClr>
                <a:schemeClr val="tx2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37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/>
              <a:t>Basic Programming Concepts</a:t>
            </a:r>
          </a:p>
          <a:p>
            <a:pPr marL="285750" indent="-28575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/>
              <a:t>OOPs</a:t>
            </a:r>
          </a:p>
          <a:p>
            <a:pPr marL="285750" indent="-28575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153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Intended Audience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/>
              <a:t>Developers new to Java technology </a:t>
            </a:r>
          </a:p>
          <a:p>
            <a:pPr marL="285750" indent="-28575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91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Wise Schedule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Day 1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Lesson 1: Introduction to Java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Lesson 2: Eclipse 4.4 (Luna) as an IDE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Lesson 3: Language Fundamentals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Lesson 4: Classes and Objects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Lesson 5: Exploring Basic Java Class Libraries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indent="-28575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Day 2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Lesson 6: Inheritance and Polymorphism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Lesson 7: Abstract Classes and Interfaces </a:t>
            </a:r>
          </a:p>
          <a:p>
            <a:pPr marL="171450" lvl="2" indent="0">
              <a:lnSpc>
                <a:spcPct val="100000"/>
              </a:lnSpc>
              <a:buNone/>
            </a:pPr>
            <a:endParaRPr lang="en-US" sz="1800" dirty="0"/>
          </a:p>
          <a:p>
            <a:pPr marL="171450" lvl="2" indent="0">
              <a:lnSpc>
                <a:spcPct val="100000"/>
              </a:lnSpc>
              <a:buNone/>
            </a:pPr>
            <a:endParaRPr lang="en-US" sz="1800" dirty="0"/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44093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Wise Schedule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Day 3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Lesson 8: Regular Expressions </a:t>
            </a:r>
          </a:p>
          <a:p>
            <a:pPr lvl="2">
              <a:lnSpc>
                <a:spcPct val="100000"/>
              </a:lnSpc>
              <a:defRPr/>
            </a:pPr>
            <a:r>
              <a:rPr lang="en-US" sz="1800" dirty="0"/>
              <a:t>Lesson 9  : Exception Handling</a:t>
            </a:r>
          </a:p>
          <a:p>
            <a:pPr lvl="2">
              <a:lnSpc>
                <a:spcPct val="100000"/>
              </a:lnSpc>
              <a:defRPr/>
            </a:pPr>
            <a:r>
              <a:rPr lang="en-US" sz="1800" dirty="0"/>
              <a:t>Lesson 10: Array 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indent="-28575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Day 4 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Lesson 11: Collection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Lesson 12: File IO  </a:t>
            </a:r>
          </a:p>
          <a:p>
            <a:pPr lvl="2">
              <a:lnSpc>
                <a:spcPct val="100000"/>
              </a:lnSpc>
            </a:pPr>
            <a:endParaRPr lang="en-US" sz="1800" dirty="0"/>
          </a:p>
          <a:p>
            <a:pPr marL="285750" indent="-285750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Day 5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Lesson 13: Introduction to JUnit 4 /Test NG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Lesion  14:   Advanced Testing Concepts</a:t>
            </a:r>
          </a:p>
          <a:p>
            <a:pPr lvl="2">
              <a:lnSpc>
                <a:spcPct val="100000"/>
              </a:lnSpc>
            </a:pPr>
            <a:endParaRPr lang="en-US" sz="1800" dirty="0"/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171450" lvl="2" indent="0">
              <a:lnSpc>
                <a:spcPct val="100000"/>
              </a:lnSpc>
              <a:buNone/>
            </a:pPr>
            <a:endParaRPr lang="en-US" sz="1800" dirty="0"/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76358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xmlns="" id="{40BDE8B1-CD66-4407-BA8E-2526B4FB8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516" y="1494766"/>
            <a:ext cx="8845484" cy="4643751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sz="1800" dirty="0"/>
              <a:t>Lesson 1: Introduction to Java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1.1:</a:t>
            </a:r>
            <a:r>
              <a:rPr lang="en-US" dirty="0"/>
              <a:t> </a:t>
            </a:r>
            <a:r>
              <a:rPr lang="en-US" sz="1600" dirty="0"/>
              <a:t>Introduction to Java                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1.2: Features of Java       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1.3: Simple Program  in Java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1.4: Developing software in Java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Lesson 2: Eclipse 4.4 (Luna) as an IDE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2.1: Installation and Setting up Eclipse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2.2: Introduction to Eclipse IDE 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2.3: Creating and Managing Java Projects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2.4: Miscellaneous  Options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080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8516" y="1277938"/>
            <a:ext cx="8845484" cy="5319414"/>
          </a:xfrm>
        </p:spPr>
        <p:txBody>
          <a:bodyPr/>
          <a:lstStyle/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Lesson 3: Language Fundamentals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3.1 Keywords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3.2: Primitive Data Types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3.3: Operators and Assignments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3.4: Variables and Literals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3.5: Flow Control: Java’s Control Statements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3.6: Best Practices</a:t>
            </a:r>
          </a:p>
          <a:p>
            <a:pPr marL="627062" lvl="3" indent="0">
              <a:lnSpc>
                <a:spcPct val="100000"/>
              </a:lnSpc>
              <a:buNone/>
            </a:pPr>
            <a:endParaRPr lang="en-US" sz="1400" dirty="0"/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Lesson 4: Classes and Objects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4.1: Classes and Objects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4.2: Packages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4.3: Access Specifies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4.4: Constructors - Default and Parameterized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4.5: this reference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4.6  using static keyword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4.7: Best Practices</a:t>
            </a:r>
          </a:p>
          <a:p>
            <a:pPr marL="342900" lvl="3" indent="0">
              <a:lnSpc>
                <a:spcPct val="100000"/>
              </a:lnSpc>
              <a:buNone/>
            </a:pPr>
            <a:endParaRPr lang="en-US" sz="1600" dirty="0"/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15409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8516" y="1119486"/>
            <a:ext cx="8845484" cy="5319414"/>
          </a:xfrm>
        </p:spPr>
        <p:txBody>
          <a:bodyPr/>
          <a:lstStyle/>
          <a:p>
            <a:pPr marL="287338" lvl="2" indent="-287338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Lesson 5: Exploring Basic Java Class Libraries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5.1: The Object Class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5.2: Wrapper Classes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5.3: Type casting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5.4: Using Scanner Class               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5.5: String Handling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5.6: Date and Time API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5.7: Best Practices</a:t>
            </a:r>
          </a:p>
          <a:p>
            <a:pPr marL="627062" lvl="3" indent="0">
              <a:lnSpc>
                <a:spcPct val="100000"/>
              </a:lnSpc>
              <a:buNone/>
            </a:pPr>
            <a:endParaRPr lang="en-US" sz="1400" dirty="0"/>
          </a:p>
          <a:p>
            <a:pPr marL="287338" lvl="2" indent="-287338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Lesson 6: Inheritance and Polymorphism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6.1: Inheritance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6.2: Using super keyword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6.3: Instance Of Operator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6.4: Method &amp; Constructor overloading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6.5: Method overriding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6.6: @override annotation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6.7: Using final keyword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6.8 Best Practices</a:t>
            </a:r>
          </a:p>
          <a:p>
            <a:pPr marL="0" lvl="2" indent="0">
              <a:lnSpc>
                <a:spcPct val="10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78543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8516" y="1277938"/>
            <a:ext cx="8845484" cy="5319414"/>
          </a:xfrm>
        </p:spPr>
        <p:txBody>
          <a:bodyPr/>
          <a:lstStyle/>
          <a:p>
            <a:pPr marL="341313" lvl="2" indent="-341313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341313" lvl="2" indent="-341313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Lesson 7: Abstract Classes and Interfaces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7.1: Abstract class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7.2: Interfaces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7.3: default methods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7.4: static methods on Interface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7.5 : Runtime Polymorphism</a:t>
            </a:r>
          </a:p>
          <a:p>
            <a:pPr marL="627062" lvl="3" indent="0">
              <a:lnSpc>
                <a:spcPct val="100000"/>
              </a:lnSpc>
              <a:buNone/>
            </a:pPr>
            <a:endParaRPr lang="en-US" sz="1400" dirty="0"/>
          </a:p>
          <a:p>
            <a:pPr marL="341313" lvl="2" indent="-341313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Lesson 8: Regular Expressions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8.1: Regular Expressions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8.2: Validating data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8.3: Best Practices</a:t>
            </a:r>
          </a:p>
          <a:p>
            <a:pPr marL="0" lvl="2" indent="0">
              <a:lnSpc>
                <a:spcPct val="10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2219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8516" y="1277938"/>
            <a:ext cx="8845484" cy="5319414"/>
          </a:xfrm>
        </p:spPr>
        <p:txBody>
          <a:bodyPr/>
          <a:lstStyle/>
          <a:p>
            <a:pPr marL="341313" lvl="2" indent="-341313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Lesson 9: Exception Handling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9.1: Introduction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9.2: Exception Types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9.3: Exception Hierarchy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9.4: Try-catch-finally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9.5: Try-with-resources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9.6: Multi catch blocks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9.7: Throwing exceptions using throw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9.8: Declaring exceptions using throws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9.9: User defined Exceptions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9.10: Best Practices</a:t>
            </a:r>
          </a:p>
          <a:p>
            <a:endParaRPr lang="en-US" dirty="0"/>
          </a:p>
          <a:p>
            <a:pPr marL="627062" lvl="3" indent="0">
              <a:lnSpc>
                <a:spcPct val="100000"/>
              </a:lnSpc>
              <a:buNone/>
            </a:pPr>
            <a:endParaRPr lang="en-US" sz="1400" dirty="0"/>
          </a:p>
          <a:p>
            <a:pPr marL="0" lvl="2" indent="0">
              <a:lnSpc>
                <a:spcPct val="10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68578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8516" y="1124744"/>
            <a:ext cx="8845484" cy="5472608"/>
          </a:xfrm>
        </p:spPr>
        <p:txBody>
          <a:bodyPr/>
          <a:lstStyle/>
          <a:p>
            <a:pPr lvl="2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Lesson 10: Array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10.1: One dimensional array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10.2: Multidimensional array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10.3: Using </a:t>
            </a:r>
            <a:r>
              <a:rPr lang="en-US" sz="1600" dirty="0" err="1"/>
              <a:t>varargs</a:t>
            </a:r>
            <a:endParaRPr lang="en-US" sz="1600" dirty="0"/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10.4: Using Arrays class</a:t>
            </a:r>
          </a:p>
          <a:p>
            <a:pPr marL="627062" lvl="3" indent="0">
              <a:lnSpc>
                <a:spcPct val="100000"/>
              </a:lnSpc>
              <a:buNone/>
            </a:pPr>
            <a:endParaRPr lang="en-US" sz="1400" dirty="0"/>
          </a:p>
          <a:p>
            <a:pPr marL="341313" lvl="2" indent="-341313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Lesson 11: Collection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11.1: Collections Framework   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11.2: Collection Interfaces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11.3: Implementing Classes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11.4  Iterating Collections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11.5: Best Practices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lvl="2" indent="0">
              <a:lnSpc>
                <a:spcPct val="10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02344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78232" y="908720"/>
            <a:ext cx="8845484" cy="5319414"/>
          </a:xfrm>
        </p:spPr>
        <p:txBody>
          <a:bodyPr/>
          <a:lstStyle/>
          <a:p>
            <a:pPr lvl="2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Lesson 12: File IO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12.1: Overview of I/O Streams                                   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12.2: Types of Streams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12.3: The Byte-stream  I/O hierarchy                                      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12.4: Character Stream Hierarchy                            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12.5: Buffered Stream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12.6: The File class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12.7: The Path Interface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12.8: Object Stream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12.9: Best Practices</a:t>
            </a:r>
          </a:p>
          <a:p>
            <a:pPr marL="627062" lvl="3" indent="0">
              <a:lnSpc>
                <a:spcPct val="100000"/>
              </a:lnSpc>
              <a:buNone/>
            </a:pPr>
            <a:endParaRPr lang="en-US" sz="1400" dirty="0"/>
          </a:p>
          <a:p>
            <a:pPr marL="0" lvl="2" indent="0">
              <a:lnSpc>
                <a:spcPct val="10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05262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8516" y="1277938"/>
            <a:ext cx="8845484" cy="5319414"/>
          </a:xfrm>
        </p:spPr>
        <p:txBody>
          <a:bodyPr/>
          <a:lstStyle/>
          <a:p>
            <a:pPr marL="341313" lvl="2" indent="-341313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Lesson 13: Introduction to Junit 4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13.1: Introduction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13.2: JUnit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13.3: Installing and Running JUnit 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13.4: Testing with JUnit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13.5: Testing Exceptions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13.6: Test Fixtures 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13.7: Best Practices</a:t>
            </a:r>
          </a:p>
          <a:p>
            <a:pPr lvl="2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  <a:p>
            <a:r>
              <a:rPr lang="en-US" sz="1800" dirty="0"/>
              <a:t>Lesson 14</a:t>
            </a:r>
            <a:r>
              <a:rPr lang="en-US" dirty="0"/>
              <a:t>: Advanced Testing Concepts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14.1: Advanced Testing concepts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14.2: Test Suites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14.3: Parameterized Tests</a:t>
            </a:r>
          </a:p>
          <a:p>
            <a:pPr lvl="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14.4: Mocking Concepts</a:t>
            </a:r>
          </a:p>
          <a:p>
            <a:pPr marL="627062" lvl="3" indent="0">
              <a:lnSpc>
                <a:spcPct val="100000"/>
              </a:lnSpc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17028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66189" lvl="1" indent="-166189">
              <a:lnSpc>
                <a:spcPct val="100000"/>
              </a:lnSpc>
              <a:buClr>
                <a:schemeClr val="tx2"/>
              </a:buClr>
            </a:pPr>
            <a:r>
              <a:rPr lang="en-US" sz="1800" dirty="0"/>
              <a:t>Books:</a:t>
            </a:r>
          </a:p>
          <a:p>
            <a:pPr lvl="3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Java, The Complete Reference; by Herbert </a:t>
            </a:r>
            <a:r>
              <a:rPr lang="en-US" sz="1600" dirty="0" err="1"/>
              <a:t>Schildt</a:t>
            </a:r>
            <a:endParaRPr lang="en-US" sz="1600" dirty="0"/>
          </a:p>
          <a:p>
            <a:pPr lvl="3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Thinking in Java; by Bruce Eckel</a:t>
            </a:r>
          </a:p>
          <a:p>
            <a:pPr lvl="3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Beginning Java 8 Fundamentals by </a:t>
            </a:r>
            <a:r>
              <a:rPr lang="en-US" sz="1600" dirty="0" err="1"/>
              <a:t>Kishori</a:t>
            </a:r>
            <a:r>
              <a:rPr lang="en-US" sz="1600" dirty="0"/>
              <a:t> Sharan</a:t>
            </a:r>
          </a:p>
          <a:p>
            <a:pPr marL="166189" lvl="1" indent="-166189">
              <a:lnSpc>
                <a:spcPct val="100000"/>
              </a:lnSpc>
              <a:buClr>
                <a:schemeClr val="tx2"/>
              </a:buClr>
            </a:pPr>
            <a:r>
              <a:rPr lang="en-US" sz="1800" dirty="0"/>
              <a:t>Websites:</a:t>
            </a:r>
          </a:p>
          <a:p>
            <a:pPr lvl="3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Java home page: http://java.sun.com/ </a:t>
            </a:r>
          </a:p>
          <a:p>
            <a:pPr lvl="3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JDK 1.8 documentation: http://docs.oracle.com/javase/8/docs/</a:t>
            </a:r>
          </a:p>
          <a:p>
            <a:pPr lvl="3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endParaRPr lang="en-US" sz="1600" dirty="0"/>
          </a:p>
          <a:p>
            <a:pPr marL="166189" lvl="1" indent="-166189">
              <a:lnSpc>
                <a:spcPct val="100000"/>
              </a:lnSpc>
              <a:buClr>
                <a:schemeClr val="tx2"/>
              </a:buClr>
            </a:pPr>
            <a:endParaRPr lang="en-US" sz="1800" dirty="0"/>
          </a:p>
          <a:p>
            <a:pPr marL="342900" lvl="3" indent="0">
              <a:lnSpc>
                <a:spcPct val="100000"/>
              </a:lnSpc>
              <a:buClr>
                <a:schemeClr val="tx2"/>
              </a:buClr>
              <a:buNone/>
              <a:defRPr/>
            </a:pPr>
            <a:endParaRPr lang="en-US" sz="1600" dirty="0"/>
          </a:p>
          <a:p>
            <a:pPr lvl="3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endParaRPr lang="en-US" sz="1600" dirty="0"/>
          </a:p>
          <a:p>
            <a:pPr marL="342900" lvl="3" indent="0">
              <a:lnSpc>
                <a:spcPct val="100000"/>
              </a:lnSpc>
              <a:buClr>
                <a:schemeClr val="tx2"/>
              </a:buClr>
              <a:buNone/>
              <a:defRPr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23761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heme/theme1.xml><?xml version="1.0" encoding="utf-8"?>
<a:theme xmlns:a="http://schemas.openxmlformats.org/drawingml/2006/main" name="Section slides">
  <a:themeElements>
    <a:clrScheme name="New-CG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005481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_template.potx [Read-Only]" id="{13D2DA8F-7125-4B20-8C80-6B6819898CD1}" vid="{B3612849-887B-425D-995B-1E6BA33971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4415CEDA0C50498A1DC5EFED353611" ma:contentTypeVersion="3" ma:contentTypeDescription="Create a new document." ma:contentTypeScope="" ma:versionID="5b151a0e270bcbf462cbe1242630070f">
  <xsd:schema xmlns:xsd="http://www.w3.org/2001/XMLSchema" xmlns:xs="http://www.w3.org/2001/XMLSchema" xmlns:p="http://schemas.microsoft.com/office/2006/metadata/properties" xmlns:ns2="952a6df7-b138-4f89-9bc4-e7a874ea3254" xmlns:ns3="8447285f-db87-42c9-968f-fa00264c9f2f" targetNamespace="http://schemas.microsoft.com/office/2006/metadata/properties" ma:root="true" ma:fieldsID="83b571372b95f26fd24865e0a5c07880" ns2:_="" ns3:_="">
    <xsd:import namespace="952a6df7-b138-4f89-9bc4-e7a874ea3254"/>
    <xsd:import namespace="8447285f-db87-42c9-968f-fa00264c9f2f"/>
    <xsd:element name="properties">
      <xsd:complexType>
        <xsd:sequence>
          <xsd:element name="documentManagement">
            <xsd:complexType>
              <xsd:all>
                <xsd:element ref="ns2:FolderName" minOccurs="0"/>
                <xsd:element ref="ns3:Levels"/>
                <xsd:element ref="ns3:Category"/>
                <xsd:element ref="ns3:Material_x0020_Type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a6df7-b138-4f89-9bc4-e7a874ea3254" elementFormDefault="qualified">
    <xsd:import namespace="http://schemas.microsoft.com/office/2006/documentManagement/types"/>
    <xsd:import namespace="http://schemas.microsoft.com/office/infopath/2007/PartnerControls"/>
    <xsd:element name="FolderName" ma:index="8" nillable="true" ma:displayName="FolderName" ma:internalName="FolderNam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7285f-db87-42c9-968f-fa00264c9f2f" elementFormDefault="qualified">
    <xsd:import namespace="http://schemas.microsoft.com/office/2006/documentManagement/types"/>
    <xsd:import namespace="http://schemas.microsoft.com/office/infopath/2007/PartnerControls"/>
    <xsd:element name="Levels" ma:index="9" ma:displayName="Levels" ma:default="L1" ma:format="Dropdown" ma:internalName="Levels">
      <xsd:simpleType>
        <xsd:restriction base="dms:Choice">
          <xsd:enumeration value="L1"/>
          <xsd:enumeration value="L2"/>
          <xsd:enumeration value="L3"/>
        </xsd:restriction>
      </xsd:simpleType>
    </xsd:element>
    <xsd:element name="Category" ma:index="10" ma:displayName="Category" ma:default="Module Artifact" ma:format="Dropdown" ma:internalName="Category">
      <xsd:simpleType>
        <xsd:restriction base="dms:Choice">
          <xsd:enumeration value="Module Artifact"/>
          <xsd:enumeration value="Assessment Component"/>
        </xsd:restriction>
      </xsd:simpleType>
    </xsd:element>
    <xsd:element name="Material_x0020_Type" ma:index="11" ma:displayName="Material Type" ma:default="Class book" ma:format="Dropdown" ma:internalName="Material_x0020_Type">
      <xsd:simpleType>
        <xsd:restriction base="dms:Choice">
          <xsd:enumeration value="Demos"/>
          <xsd:enumeration value="Extra Example"/>
          <xsd:enumeration value="Extra Material"/>
          <xsd:enumeration value="Suggestions"/>
          <xsd:enumeration value="General"/>
          <xsd:enumeration value="Module Test Practical"/>
          <xsd:enumeration value="Module Test Theory"/>
          <xsd:enumeration value="Quiz"/>
          <xsd:enumeration value="Class book"/>
          <xsd:enumeration value="Lab book"/>
          <xsd:enumeration value="Recording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evels xmlns="8447285f-db87-42c9-968f-fa00264c9f2f">L1</Levels>
    <FolderName xmlns="952a6df7-b138-4f89-9bc4-e7a874ea3254" xsi:nil="true"/>
    <Material_x0020_Type xmlns="8447285f-db87-42c9-968f-fa00264c9f2f">Class book</Material_x0020_Type>
    <Category xmlns="8447285f-db87-42c9-968f-fa00264c9f2f">Module Artifact</Category>
  </documentManagement>
</p:properties>
</file>

<file path=customXml/itemProps1.xml><?xml version="1.0" encoding="utf-8"?>
<ds:datastoreItem xmlns:ds="http://schemas.openxmlformats.org/officeDocument/2006/customXml" ds:itemID="{E6D7665F-8C87-49F1-94B0-6D13FB5E12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43B854-7D1B-4737-8E70-5F8C645B01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2a6df7-b138-4f89-9bc4-e7a874ea3254"/>
    <ds:schemaRef ds:uri="8447285f-db87-42c9-968f-fa00264c9f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3433B7-998A-4D4C-91CD-BC966B06FCAD}">
  <ds:schemaRefs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8447285f-db87-42c9-968f-fa00264c9f2f"/>
    <ds:schemaRef ds:uri="952a6df7-b138-4f89-9bc4-e7a874ea3254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1854</TotalTime>
  <Words>774</Words>
  <Application>Microsoft Office PowerPoint</Application>
  <PresentationFormat>On-screen Show (4:3)</PresentationFormat>
  <Paragraphs>222</Paragraphs>
  <Slides>16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Verdana</vt:lpstr>
      <vt:lpstr>Arial</vt:lpstr>
      <vt:lpstr>Wingdings</vt:lpstr>
      <vt:lpstr>Calibri</vt:lpstr>
      <vt:lpstr>Section slides</vt:lpstr>
      <vt:lpstr>think-cell Slide</vt:lpstr>
      <vt:lpstr>Core Java 8 and Development Tools </vt:lpstr>
      <vt:lpstr>Document History</vt:lpstr>
      <vt:lpstr>Lesson Objectives</vt:lpstr>
      <vt:lpstr>Pre-requisites</vt:lpstr>
      <vt:lpstr>Intended Audience</vt:lpstr>
      <vt:lpstr>Day Wise Schedule</vt:lpstr>
      <vt:lpstr>Day Wise Schedule</vt:lpstr>
      <vt:lpstr>Table of Contents</vt:lpstr>
      <vt:lpstr>Table of Contents</vt:lpstr>
      <vt:lpstr>Table of Contents</vt:lpstr>
      <vt:lpstr>Table of Contents</vt:lpstr>
      <vt:lpstr>Table of Contents</vt:lpstr>
      <vt:lpstr>Table of Contents</vt:lpstr>
      <vt:lpstr>Table of Contents</vt:lpstr>
      <vt:lpstr>Table of Contents</vt:lpstr>
      <vt:lpstr>Additional Reading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Nithin P Thulaseedharan</dc:creator>
  <cp:lastModifiedBy>Padmawar, Neelima</cp:lastModifiedBy>
  <cp:revision>209</cp:revision>
  <cp:lastPrinted>2016-08-30T09:18:33Z</cp:lastPrinted>
  <dcterms:created xsi:type="dcterms:W3CDTF">2014-04-28T11:21:39Z</dcterms:created>
  <dcterms:modified xsi:type="dcterms:W3CDTF">2018-05-22T10:58:56Z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0x010100854415CEDA0C50498A1DC5EFED353611</vt:lpwstr>
  </property>
</Properties>
</file>